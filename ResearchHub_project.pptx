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SemiBold"/>
      <p:regular r:id="rId201315"/>
    </p:embeddedFont>
    <p:embeddedFont>
      <p:font typeface="Albert Sans Bold"/>
      <p:regular r:id="rId201316"/>
    </p:embeddedFont>
    <p:embeddedFont>
      <p:font typeface="Hedvig Letters Serif"/>
      <p:regular r:id="rId201317"/>
    </p:embeddedFont>
    <p:embeddedFont>
      <p:font typeface="Red Hat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ResearchHub as a DBMS project that separates reliable relational records from flexible analytics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split: PostgreSQL protects the core relational model, while MongoDB keeps metadata and event-oriented analytics flexible. The dashboard is the shared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PUBLICATION_AUTHORS resolves the many-to-many relationship, while CITATIONS uses two foreign keys back to DOCUMENTS to create a self-referencing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ladder from atomic values to independent multivalued relationships. The bridge-table example makes the change from repeating text to relational rows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DDL makes correctness executable: invalid values and broken relationships are rejected at write time, rather than discovered later in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 CRUD cards as the operational vocabulary, then show how the three-table INNER JOIN turns normalized structure into a useful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three patterns: aggregation filters grouped results, set operations compare result sets, and a subquery supplies a condition to the outer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distinction between aggregation and windows. The result can preserve author-level detail while adding rank, count, or other calculations across the related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optimization is observable rather than abstract: EXPLAIN ANALYZE exposes the planner and execution cost. MongoDB then adds flexible document-shaped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the pipeline to decisions: filter, unwind, group, and sort publication metadata, then surface the results through KPIs, rankings, year comparisons, and citation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11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A97755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609600"/>
            <a:ext cx="6603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DBMS PROJECT · RESEARCH MANAGEMENT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182" y="893366"/>
            <a:ext cx="6121247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spc="-144" kern="100" dirty="0">
                <a:solidFill>
                  <a:srgbClr val="FFFFF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ResearchHub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711182" y="2298998"/>
            <a:ext cx="201111" cy="31651"/>
          </a:xfrm>
          <a:prstGeom prst="roundRect">
            <a:avLst>
              <a:gd name="adj" fmla="val 49998"/>
            </a:avLst>
          </a:prstGeom>
          <a:solidFill>
            <a:srgbClr val="6B625C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576810"/>
            <a:ext cx="6603835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Research Management &amp; Analytics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182" y="3126085"/>
            <a:ext cx="6121247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DBMS project using PostgreSQL and MongoDB for publications, authors, documents, citations, and research analytics.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1182" y="6017022"/>
            <a:ext cx="6603835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Student Name · Roll Number · Course · College/University · Academic Year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94410" y="533400"/>
            <a:ext cx="377816" cy="377825"/>
          </a:xfrm>
          <a:prstGeom prst="ellipse">
            <a:avLst/>
          </a:prstGeom>
          <a:solidFill>
            <a:srgbClr val="A97755"/>
          </a:solidFill>
          <a:ln/>
        </p:spPr>
      </p:sp>
      <p:sp>
        <p:nvSpPr>
          <p:cNvPr id="10" name="Text 8"/>
          <p:cNvSpPr/>
          <p:nvPr/>
        </p:nvSpPr>
        <p:spPr>
          <a:xfrm>
            <a:off x="7679240" y="614363"/>
            <a:ext cx="8177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8120" y="569913"/>
            <a:ext cx="339399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Authors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researchers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94410" y="1114425"/>
            <a:ext cx="377816" cy="377825"/>
          </a:xfrm>
          <a:prstGeom prst="ellipse">
            <a:avLst/>
          </a:prstGeom>
          <a:solidFill>
            <a:srgbClr val="A97755"/>
          </a:solidFill>
          <a:ln/>
        </p:spPr>
      </p:sp>
      <p:sp>
        <p:nvSpPr>
          <p:cNvPr id="13" name="Text 11"/>
          <p:cNvSpPr/>
          <p:nvPr/>
        </p:nvSpPr>
        <p:spPr>
          <a:xfrm>
            <a:off x="7649971" y="1195388"/>
            <a:ext cx="87627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88120" y="1150938"/>
            <a:ext cx="339399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Publications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papers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94410" y="1695450"/>
            <a:ext cx="377816" cy="377825"/>
          </a:xfrm>
          <a:prstGeom prst="ellipse">
            <a:avLst/>
          </a:prstGeom>
          <a:solidFill>
            <a:srgbClr val="A97755"/>
          </a:solidFill>
          <a:ln/>
        </p:spPr>
      </p:sp>
      <p:sp>
        <p:nvSpPr>
          <p:cNvPr id="16" name="Text 14"/>
          <p:cNvSpPr/>
          <p:nvPr/>
        </p:nvSpPr>
        <p:spPr>
          <a:xfrm>
            <a:off x="7649773" y="1776413"/>
            <a:ext cx="8766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88120" y="1731963"/>
            <a:ext cx="339399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Documents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files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94410" y="2276475"/>
            <a:ext cx="387539" cy="387548"/>
          </a:xfrm>
          <a:prstGeom prst="ellipse">
            <a:avLst/>
          </a:prstGeom>
          <a:solidFill>
            <a:srgbClr val="A97755"/>
          </a:solidFill>
          <a:ln/>
        </p:spPr>
      </p:sp>
      <p:sp>
        <p:nvSpPr>
          <p:cNvPr id="19" name="Text 17"/>
          <p:cNvSpPr/>
          <p:nvPr/>
        </p:nvSpPr>
        <p:spPr>
          <a:xfrm>
            <a:off x="7648384" y="2362299"/>
            <a:ext cx="88917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97843" y="2317849"/>
            <a:ext cx="33842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Citations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links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594410" y="2867223"/>
            <a:ext cx="380494" cy="380504"/>
          </a:xfrm>
          <a:prstGeom prst="ellipse">
            <a:avLst/>
          </a:prstGeom>
          <a:solidFill>
            <a:srgbClr val="A97755"/>
          </a:solidFill>
          <a:ln/>
        </p:spPr>
      </p:sp>
      <p:sp>
        <p:nvSpPr>
          <p:cNvPr id="22" name="Text 20"/>
          <p:cNvSpPr/>
          <p:nvPr/>
        </p:nvSpPr>
        <p:spPr>
          <a:xfrm>
            <a:off x="7648384" y="2949476"/>
            <a:ext cx="8821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90799" y="2905026"/>
            <a:ext cx="339131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Research Analytics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answers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594410" y="5923359"/>
            <a:ext cx="3987700" cy="502841"/>
          </a:xfrm>
          <a:prstGeom prst="rect">
            <a:avLst/>
          </a:prstGeom>
          <a:solidFill>
            <a:srgbClr val="6B625C"/>
          </a:solidFill>
          <a:ln/>
        </p:spPr>
      </p:sp>
      <p:sp>
        <p:nvSpPr>
          <p:cNvPr id="25" name="Text 23"/>
          <p:cNvSpPr/>
          <p:nvPr/>
        </p:nvSpPr>
        <p:spPr>
          <a:xfrm>
            <a:off x="7797605" y="6075759"/>
            <a:ext cx="378450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94410" y="1006475"/>
            <a:ext cx="3987700" cy="12700"/>
          </a:xfrm>
          <a:prstGeom prst="rect">
            <a:avLst/>
          </a:prstGeom>
          <a:solidFill>
            <a:srgbClr val="A97755"/>
          </a:solidFill>
          <a:ln/>
        </p:spPr>
      </p:sp>
      <p:sp>
        <p:nvSpPr>
          <p:cNvPr id="27" name="Shape 25"/>
          <p:cNvSpPr/>
          <p:nvPr/>
        </p:nvSpPr>
        <p:spPr>
          <a:xfrm>
            <a:off x="7594410" y="1587500"/>
            <a:ext cx="3987700" cy="12700"/>
          </a:xfrm>
          <a:prstGeom prst="rect">
            <a:avLst/>
          </a:prstGeom>
          <a:solidFill>
            <a:srgbClr val="A97755"/>
          </a:solidFill>
          <a:ln/>
        </p:spPr>
      </p:sp>
      <p:sp>
        <p:nvSpPr>
          <p:cNvPr id="28" name="Shape 26"/>
          <p:cNvSpPr/>
          <p:nvPr/>
        </p:nvSpPr>
        <p:spPr>
          <a:xfrm>
            <a:off x="7594410" y="2168525"/>
            <a:ext cx="3987700" cy="12700"/>
          </a:xfrm>
          <a:prstGeom prst="rect">
            <a:avLst/>
          </a:prstGeom>
          <a:solidFill>
            <a:srgbClr val="A97755"/>
          </a:solidFill>
          <a:ln/>
        </p:spPr>
      </p:sp>
      <p:sp>
        <p:nvSpPr>
          <p:cNvPr id="29" name="Shape 27"/>
          <p:cNvSpPr/>
          <p:nvPr/>
        </p:nvSpPr>
        <p:spPr>
          <a:xfrm>
            <a:off x="7594410" y="2759273"/>
            <a:ext cx="3987700" cy="12700"/>
          </a:xfrm>
          <a:prstGeom prst="rect">
            <a:avLst/>
          </a:prstGeom>
          <a:solidFill>
            <a:srgbClr val="A977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SYSTEM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ResearchHub separates reliable relational data from flexible analytics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77045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505968"/>
            <a:ext cx="248913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ResearchHub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920603"/>
            <a:ext cx="24891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51019" y="2354858"/>
            <a:ext cx="276853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51019" y="2769493"/>
            <a:ext cx="276853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Authors · Publications · Documents · Citations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171897" y="2354858"/>
            <a:ext cx="276863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MongoDB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71946" y="2769493"/>
            <a:ext cx="276863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Publication Metadata · Research Events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92873" y="2486918"/>
            <a:ext cx="248923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092824" y="2982813"/>
            <a:ext cx="24892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Analytics Dashboard</a:t>
            </a:r>
            <a:endParaRPr lang="en-US" sz="17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67609"/>
            <a:ext cx="431789" cy="4318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15" y="3567609"/>
            <a:ext cx="431789" cy="4318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46" y="3567609"/>
            <a:ext cx="431789" cy="43180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276" y="3567609"/>
            <a:ext cx="431789" cy="431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585" y="4622304"/>
            <a:ext cx="5333867" cy="163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Problem: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Researchers, multi-author publications, documents, citation relationships, statistics, and analytics.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PostgreSQL: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Structured relational data with integrity and transactional consistency.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6248244" y="4622304"/>
            <a:ext cx="5333867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MongoDB: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Flexible metadata, embedded publication details, and event or analytics data.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Outcome: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Both stores feed a unified analytics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The ER model resolves authorship, documents, and self-referencing citations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77045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54858"/>
            <a:ext cx="5333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AUTHORS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769493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author_id PK · name · email · affiliation · created_at. Stores researchers.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567609"/>
            <a:ext cx="5333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PUBLICATIONS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3982244"/>
            <a:ext cx="53338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publication_id PK · title · abstract · publication_date · journal · doi · created_at. Stores papers.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780359"/>
            <a:ext cx="5333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PUBLICATION_AUTHORS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5194995"/>
            <a:ext cx="533386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publication_id FK · author_id FK · author_order; composite PK (publication_id, author_id) resolves the M:N author-publication relationship. AUTHORS M:N PUBLICATIONS through PUBLICATION_AUTHORS.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48244" y="2354858"/>
            <a:ext cx="5333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DOCUMENTS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244" y="2769493"/>
            <a:ext cx="533386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document_id PK · publication_id FK · document_type · file_path · uploaded_at. One publication can have many documents. PUBLICATIONS 1:M DOCUMENTS.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3869829"/>
            <a:ext cx="53338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CITATIONS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48244" y="4284464"/>
            <a:ext cx="5333867" cy="1940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citation_id PK · citing_document_id FK · cited_document_id FK · cited_at. Both FKs point to DOCUMENTS, creating a self-referencing citation graph. DOCUMENTS self-reference through CITATIONS.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Document A cites Document B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082847" y="6553200"/>
            <a:ext cx="5257668" cy="2160091"/>
          </a:xfrm>
          <a:prstGeom prst="roundRect">
            <a:avLst>
              <a:gd name="adj" fmla="val 4198"/>
            </a:avLst>
          </a:prstGeom>
          <a:noFill/>
          <a:ln w="19050">
            <a:solidFill>
              <a:srgbClr val="6E554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00" spc="-29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ResearchHub – Database Tables &amp; Attributes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585" y="5913338"/>
            <a:ext cx="11582110" cy="10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6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PK = Primary Key | FK = Foreign Key | UQ = Unique | NN = Not Null | CHK = Check | DEF = Default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732712" y="1271488"/>
            <a:ext cx="1080763" cy="353913"/>
          </a:xfrm>
          <a:prstGeom prst="roundRect">
            <a:avLst>
              <a:gd name="adj" fmla="val 20497"/>
            </a:avLst>
          </a:prstGeom>
          <a:solidFill>
            <a:srgbClr val="33241A"/>
          </a:solidFill>
          <a:ln/>
        </p:spPr>
      </p:sp>
      <p:sp>
        <p:nvSpPr>
          <p:cNvPr id="5" name="Text 3"/>
          <p:cNvSpPr/>
          <p:nvPr/>
        </p:nvSpPr>
        <p:spPr>
          <a:xfrm>
            <a:off x="862189" y="1336179"/>
            <a:ext cx="1431393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9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AUTHORS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2712" y="1752600"/>
          <a:ext cx="5011414" cy="914400"/>
        </p:xfrm>
        <a:graphic>
          <a:graphicData uri="http://schemas.openxmlformats.org/drawingml/2006/table">
            <a:tbl>
              <a:tblPr/>
              <a:tblGrid>
                <a:gridCol w="1703841"/>
                <a:gridCol w="1804049"/>
                <a:gridCol w="1503523"/>
              </a:tblGrid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Attribute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Data Type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Constraint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author_id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SERIAL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name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VARCHAR(150)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NN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email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VARCHAR(255)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UQ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affiliation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VARCHAR(200)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—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created_at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TIMESTAMP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DEF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24442" y="1148259"/>
            <a:ext cx="5257668" cy="2160091"/>
          </a:xfrm>
          <a:prstGeom prst="roundRect">
            <a:avLst>
              <a:gd name="adj" fmla="val 4198"/>
            </a:avLst>
          </a:prstGeom>
          <a:noFill/>
          <a:ln w="19050">
            <a:solidFill>
              <a:srgbClr val="6E55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47569" y="1271488"/>
            <a:ext cx="1667825" cy="353913"/>
          </a:xfrm>
          <a:prstGeom prst="roundRect">
            <a:avLst>
              <a:gd name="adj" fmla="val 20497"/>
            </a:avLst>
          </a:prstGeom>
          <a:solidFill>
            <a:srgbClr val="33241A"/>
          </a:solidFill>
          <a:ln/>
        </p:spPr>
      </p:sp>
      <p:sp>
        <p:nvSpPr>
          <p:cNvPr id="9" name="Text 6"/>
          <p:cNvSpPr/>
          <p:nvPr/>
        </p:nvSpPr>
        <p:spPr>
          <a:xfrm>
            <a:off x="6577046" y="1336179"/>
            <a:ext cx="20184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9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PUBLICATIONS</a:t>
            </a:r>
            <a:endParaRPr lang="en-US" sz="13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7569" y="1752600"/>
          <a:ext cx="5011414" cy="914400"/>
        </p:xfrm>
        <a:graphic>
          <a:graphicData uri="http://schemas.openxmlformats.org/drawingml/2006/table">
            <a:tbl>
              <a:tblPr/>
              <a:tblGrid>
                <a:gridCol w="1703841"/>
                <a:gridCol w="1804049"/>
                <a:gridCol w="1503523"/>
              </a:tblGrid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Attribute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Data Type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Constraint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publication_id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SERIAL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title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VARCHAR(300)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NN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abstract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TEXT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—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publication_date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DATE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—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journal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VARCHAR(200)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—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doi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VARCHAR(100)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UQ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9585" y="3765748"/>
            <a:ext cx="3352716" cy="1953816"/>
          </a:xfrm>
          <a:prstGeom prst="roundRect">
            <a:avLst>
              <a:gd name="adj" fmla="val 4641"/>
            </a:avLst>
          </a:prstGeom>
          <a:noFill/>
          <a:ln w="19050">
            <a:solidFill>
              <a:srgbClr val="6E554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2712" y="3888780"/>
            <a:ext cx="2489634" cy="353913"/>
          </a:xfrm>
          <a:prstGeom prst="roundRect">
            <a:avLst>
              <a:gd name="adj" fmla="val 20497"/>
            </a:avLst>
          </a:prstGeom>
          <a:solidFill>
            <a:srgbClr val="33241A"/>
          </a:solidFill>
          <a:ln/>
        </p:spPr>
      </p:sp>
      <p:sp>
        <p:nvSpPr>
          <p:cNvPr id="13" name="Text 9"/>
          <p:cNvSpPr/>
          <p:nvPr/>
        </p:nvSpPr>
        <p:spPr>
          <a:xfrm>
            <a:off x="862189" y="3953470"/>
            <a:ext cx="284026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9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PUBLICATION_AUTHORS</a:t>
            </a:r>
            <a:endParaRPr lang="en-US" sz="13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2712" y="4369891"/>
          <a:ext cx="3106461" cy="914400"/>
        </p:xfrm>
        <a:graphic>
          <a:graphicData uri="http://schemas.openxmlformats.org/drawingml/2006/table">
            <a:tbl>
              <a:tblPr/>
              <a:tblGrid>
                <a:gridCol w="1304694"/>
                <a:gridCol w="869730"/>
                <a:gridCol w="932038"/>
              </a:tblGrid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Attribute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Data Type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Constraint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publication_id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PK, FK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author_id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PK, FK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author_order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CHK &gt; 0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419489" y="3765748"/>
            <a:ext cx="3352716" cy="1953816"/>
          </a:xfrm>
          <a:prstGeom prst="roundRect">
            <a:avLst>
              <a:gd name="adj" fmla="val 4641"/>
            </a:avLst>
          </a:prstGeom>
          <a:noFill/>
          <a:ln w="19050">
            <a:solidFill>
              <a:srgbClr val="6E554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42617" y="3888780"/>
            <a:ext cx="1315608" cy="353913"/>
          </a:xfrm>
          <a:prstGeom prst="roundRect">
            <a:avLst>
              <a:gd name="adj" fmla="val 20497"/>
            </a:avLst>
          </a:prstGeom>
          <a:solidFill>
            <a:srgbClr val="33241A"/>
          </a:solidFill>
          <a:ln/>
        </p:spPr>
      </p:sp>
      <p:sp>
        <p:nvSpPr>
          <p:cNvPr id="17" name="Text 12"/>
          <p:cNvSpPr/>
          <p:nvPr/>
        </p:nvSpPr>
        <p:spPr>
          <a:xfrm>
            <a:off x="4672094" y="3953470"/>
            <a:ext cx="16662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9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DOCUMENTS</a:t>
            </a:r>
            <a:endParaRPr lang="en-US" sz="13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42617" y="4369891"/>
          <a:ext cx="3106461" cy="914400"/>
        </p:xfrm>
        <a:graphic>
          <a:graphicData uri="http://schemas.openxmlformats.org/drawingml/2006/table">
            <a:tbl>
              <a:tblPr/>
              <a:tblGrid>
                <a:gridCol w="1304694"/>
                <a:gridCol w="869730"/>
                <a:gridCol w="932038"/>
              </a:tblGrid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Attribute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Data Type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Constraint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document_id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SERIAL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publication_id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document_type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VARCHAR(50)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CHK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file_path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TEXT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—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uploaded_at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TIMESTAMP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DEF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8229394" y="3765748"/>
            <a:ext cx="3352716" cy="1953816"/>
          </a:xfrm>
          <a:prstGeom prst="roundRect">
            <a:avLst>
              <a:gd name="adj" fmla="val 4641"/>
            </a:avLst>
          </a:prstGeom>
          <a:noFill/>
          <a:ln w="19050">
            <a:solidFill>
              <a:srgbClr val="6E554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52522" y="3888780"/>
            <a:ext cx="1315608" cy="353913"/>
          </a:xfrm>
          <a:prstGeom prst="roundRect">
            <a:avLst>
              <a:gd name="adj" fmla="val 20497"/>
            </a:avLst>
          </a:prstGeom>
          <a:solidFill>
            <a:srgbClr val="33241A"/>
          </a:solidFill>
          <a:ln/>
        </p:spPr>
      </p:sp>
      <p:sp>
        <p:nvSpPr>
          <p:cNvPr id="21" name="Text 15"/>
          <p:cNvSpPr/>
          <p:nvPr/>
        </p:nvSpPr>
        <p:spPr>
          <a:xfrm>
            <a:off x="8481999" y="3953470"/>
            <a:ext cx="16662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109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CITATIONS</a:t>
            </a:r>
            <a:endParaRPr lang="en-US" sz="13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52522" y="4369891"/>
          <a:ext cx="3106461" cy="914400"/>
        </p:xfrm>
        <a:graphic>
          <a:graphicData uri="http://schemas.openxmlformats.org/drawingml/2006/table">
            <a:tbl>
              <a:tblPr/>
              <a:tblGrid>
                <a:gridCol w="1304694"/>
                <a:gridCol w="869730"/>
                <a:gridCol w="932038"/>
              </a:tblGrid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Attribute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Data Type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Constraint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citation_id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SERIAL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citing_document_id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cited_document_id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INT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FK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cited_at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TIMESTAMP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DEF</a:t>
                      </a:r>
                      <a:endParaRPr lang="en-US" sz="8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66673" marR="66673" marT="35559" marB="35559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50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Normalization removes redundancy before analytics begins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77045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54858"/>
            <a:ext cx="6309262" cy="263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1NF: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atomic values; no repeating author groups.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2NF: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remove partial dependencies from the composite bridge key in publication_authors.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3NF: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keep author attributes such as affiliation in AUTHORS, not in publication rows.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BCNF: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every determinant is a candidate key.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4NF:</a:t>
            </a:r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separate independent multivalued relationships: Publication → Authors; Publication → Topics.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75936" y="2354858"/>
            <a:ext cx="1950691" cy="1940322"/>
          </a:xfrm>
          <a:prstGeom prst="rect">
            <a:avLst/>
          </a:prstGeom>
          <a:solidFill>
            <a:srgbClr val="342B26"/>
          </a:solidFill>
          <a:ln/>
        </p:spPr>
      </p:sp>
      <p:sp>
        <p:nvSpPr>
          <p:cNvPr id="7" name="Text 5"/>
          <p:cNvSpPr/>
          <p:nvPr/>
        </p:nvSpPr>
        <p:spPr>
          <a:xfrm>
            <a:off x="7579131" y="2558058"/>
            <a:ext cx="17474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79131" y="2883098"/>
            <a:ext cx="154430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authors = "Asha, Rahul"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631419" y="2354858"/>
            <a:ext cx="1950691" cy="1940322"/>
          </a:xfrm>
          <a:prstGeom prst="rect">
            <a:avLst/>
          </a:prstGeom>
          <a:solidFill>
            <a:srgbClr val="6B625C"/>
          </a:solidFill>
          <a:ln/>
        </p:spPr>
      </p:sp>
      <p:sp>
        <p:nvSpPr>
          <p:cNvPr id="10" name="Text 8"/>
          <p:cNvSpPr/>
          <p:nvPr/>
        </p:nvSpPr>
        <p:spPr>
          <a:xfrm>
            <a:off x="9834614" y="2558058"/>
            <a:ext cx="17474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34614" y="2883098"/>
            <a:ext cx="154430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publication_authors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one bridge row per author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75936" y="4422180"/>
            <a:ext cx="420617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Result: fewer insertion, update, and deletion anomalies.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POSTGRESQL · DDL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6059"/>
            <a:ext cx="10972526" cy="410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50" spc="-37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PostgreSQL constraints make the model enforceable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09585" y="1486495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938238"/>
            <a:ext cx="5333867" cy="2553891"/>
          </a:xfrm>
          <a:prstGeom prst="roundRect">
            <a:avLst>
              <a:gd name="adj" fmla="val 3182"/>
            </a:avLst>
          </a:prstGeom>
          <a:solidFill>
            <a:srgbClr val="342B26"/>
          </a:solidFill>
          <a:ln/>
        </p:spPr>
      </p:sp>
      <p:sp>
        <p:nvSpPr>
          <p:cNvPr id="6" name="Text 4"/>
          <p:cNvSpPr/>
          <p:nvPr/>
        </p:nvSpPr>
        <p:spPr>
          <a:xfrm>
            <a:off x="841751" y="2131715"/>
            <a:ext cx="4869534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authors (author_id SERIAL PRIMARY KEY, name TEXT NOT NULL, email TEXT UNIQUE, created_at TIMESTAMP DEFAULT CURRENT_TIMESTAMP);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publications (publication_id SERIAL PRIMARY KEY, title TEXT NOT NULL, doi TEXT UNIQUE);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4709815"/>
            <a:ext cx="5333867" cy="1934766"/>
          </a:xfrm>
          <a:prstGeom prst="roundRect">
            <a:avLst>
              <a:gd name="adj" fmla="val 4201"/>
            </a:avLst>
          </a:prstGeom>
          <a:solidFill>
            <a:srgbClr val="342B26"/>
          </a:solidFill>
          <a:ln/>
        </p:spPr>
      </p:sp>
      <p:sp>
        <p:nvSpPr>
          <p:cNvPr id="8" name="Text 6"/>
          <p:cNvSpPr/>
          <p:nvPr/>
        </p:nvSpPr>
        <p:spPr>
          <a:xfrm>
            <a:off x="841751" y="4903291"/>
            <a:ext cx="4869534" cy="1547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publication_authors (publication_id INT REFERENCES publications ON DELETE CASCADE, author_id INT REFERENCES authors ON DELETE CASCADE, author_order INT CHECK (author_order &gt; 0), PRIMARY KEY (publication_id, author_id));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720552"/>
          <a:ext cx="5333867" cy="914400"/>
        </p:xfrm>
        <a:graphic>
          <a:graphicData uri="http://schemas.openxmlformats.org/drawingml/2006/table">
            <a:tbl>
              <a:tblPr/>
              <a:tblGrid>
                <a:gridCol w="1813475"/>
                <a:gridCol w="3520392"/>
              </a:tblGrid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Constraint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4EFE8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Purpose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PRIMARY KEY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Identifies rows.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FOREIGN KEY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Preserves relationships.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UNIQUE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Protects email and doi.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NOT NULL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Rejects missing required data.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CHECK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Validates author_order &gt; 0.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8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DEFAULT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Sets CURRENT_TIMESTAMP.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3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ON DELETE CASCADE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EAE2"/>
                          </a:solidFill>
                          <a:latin typeface="Albert Sans" pitchFamily="34" charset="0"/>
                          <a:ea typeface="Albert Sans" pitchFamily="34" charset="-122"/>
                          <a:cs typeface="Albert Sans" pitchFamily="34" charset="-120"/>
                        </a:rPr>
                        <a:t>Removes dependent bridge rows safely.</a:t>
                      </a:r>
                      <a:endParaRPr lang="en-US" sz="1500" dirty="0">
                        <a:latin typeface="Albert Sans" charset="0"/>
                        <a:ea typeface="Albert Sans" charset="0"/>
                        <a:cs typeface="Albert Sans" charset="0"/>
                      </a:endParaRPr>
                    </a:p>
                  </a:txBody>
                  <a:tcPr marL="145126" marR="145126" marT="77400" marB="77400" anchor="ctr">
                    <a:lnL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77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8244" y="5416252"/>
            <a:ext cx="5333867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5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Constraints reject invalid data at write time.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SQL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CRUD and joins turn normalized tables into useful answers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09585" y="1406128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683941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1785541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INSERT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182" y="2200176"/>
            <a:ext cx="248913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Rahul Kumar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from LPU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52716" y="1683941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9" name="Text 7"/>
          <p:cNvSpPr/>
          <p:nvPr/>
        </p:nvSpPr>
        <p:spPr>
          <a:xfrm>
            <a:off x="3454314" y="1785541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SELECT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54314" y="2200176"/>
            <a:ext cx="248913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Filter authors by affiliation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5" y="2969716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12" name="Text 10"/>
          <p:cNvSpPr/>
          <p:nvPr/>
        </p:nvSpPr>
        <p:spPr>
          <a:xfrm>
            <a:off x="711182" y="3071316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UPDATE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1182" y="3485952"/>
            <a:ext cx="238754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Change affiliation by author_id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352716" y="2969716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15" name="Text 13"/>
          <p:cNvSpPr/>
          <p:nvPr/>
        </p:nvSpPr>
        <p:spPr>
          <a:xfrm>
            <a:off x="3454314" y="3071316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DELETE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54314" y="3485952"/>
            <a:ext cx="248913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Respect cascade behavior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48244" y="1683941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49841" y="1785541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INNER JOIN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49841" y="2200176"/>
            <a:ext cx="238754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Only matching rows from both tables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991375" y="1683941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21" name="Text 19"/>
          <p:cNvSpPr/>
          <p:nvPr/>
        </p:nvSpPr>
        <p:spPr>
          <a:xfrm>
            <a:off x="9092973" y="1785541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LEFT JOIN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92973" y="2200176"/>
            <a:ext cx="238754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All left rows; matched right or NULL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48244" y="2969716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24" name="Text 22"/>
          <p:cNvSpPr/>
          <p:nvPr/>
        </p:nvSpPr>
        <p:spPr>
          <a:xfrm>
            <a:off x="6349841" y="3071316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RIGHT JOIN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49841" y="3485952"/>
            <a:ext cx="238754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All right rows; matched left or NULL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991375" y="2969716"/>
            <a:ext cx="2590735" cy="1133376"/>
          </a:xfrm>
          <a:prstGeom prst="roundRect">
            <a:avLst>
              <a:gd name="adj" fmla="val 8000"/>
            </a:avLst>
          </a:prstGeom>
          <a:solidFill>
            <a:srgbClr val="553C2B"/>
          </a:solidFill>
          <a:ln/>
        </p:spPr>
      </p:sp>
      <p:sp>
        <p:nvSpPr>
          <p:cNvPr id="27" name="Text 25"/>
          <p:cNvSpPr/>
          <p:nvPr/>
        </p:nvSpPr>
        <p:spPr>
          <a:xfrm>
            <a:off x="9092973" y="3071316"/>
            <a:ext cx="238754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FULL OUTER JOIN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92973" y="3485952"/>
            <a:ext cx="238754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All rows from both; NULL where no match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9585" y="4345980"/>
            <a:ext cx="10972526" cy="1813322"/>
          </a:xfrm>
          <a:prstGeom prst="roundRect">
            <a:avLst>
              <a:gd name="adj" fmla="val 5001"/>
            </a:avLst>
          </a:prstGeom>
          <a:solidFill>
            <a:srgbClr val="342B2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38" y="4561880"/>
            <a:ext cx="10454418" cy="138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p.title, a.name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publications p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publication_authors pa ON p.publication_id = pa.publication_id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authors a ON pa.author_id = a.author_id;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09585" y="6402189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join connects publications → publication_authors → authors to list every paper with its researchers.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4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QUERY PATTERNS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8717"/>
            <a:ext cx="10972526" cy="400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6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Aggregation and set logic answer multi-publication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62187"/>
            <a:ext cx="201111" cy="19050"/>
          </a:xfrm>
          <a:prstGeom prst="roundRect">
            <a:avLst>
              <a:gd name="adj" fmla="val 49999"/>
            </a:avLst>
          </a:prstGeom>
          <a:solidFill>
            <a:srgbClr val="A9775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889621"/>
            <a:ext cx="3454314" cy="1890613"/>
          </a:xfrm>
          <a:prstGeom prst="roundRect">
            <a:avLst>
              <a:gd name="adj" fmla="val 4200"/>
            </a:avLst>
          </a:prstGeom>
          <a:solidFill>
            <a:srgbClr val="342B26"/>
          </a:solidFill>
          <a:ln/>
        </p:spPr>
      </p:sp>
      <p:sp>
        <p:nvSpPr>
          <p:cNvPr id="6" name="Text 4"/>
          <p:cNvSpPr/>
          <p:nvPr/>
        </p:nvSpPr>
        <p:spPr>
          <a:xfrm>
            <a:off x="836393" y="2078633"/>
            <a:ext cx="3000697" cy="151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author_id, COUNT(*) AS publications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publication_authors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author_id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&gt;= 2;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3992860"/>
            <a:ext cx="3454314" cy="1465461"/>
          </a:xfrm>
          <a:prstGeom prst="roundRect">
            <a:avLst>
              <a:gd name="adj" fmla="val 5419"/>
            </a:avLst>
          </a:prstGeom>
          <a:solidFill>
            <a:srgbClr val="022349"/>
          </a:solidFill>
          <a:ln/>
        </p:spPr>
      </p:sp>
      <p:sp>
        <p:nvSpPr>
          <p:cNvPr id="8" name="Text 6"/>
          <p:cNvSpPr/>
          <p:nvPr/>
        </p:nvSpPr>
        <p:spPr>
          <a:xfrm>
            <a:off x="798592" y="4229100"/>
            <a:ext cx="3076300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GROUP BY + HAVING</a:t>
            </a:r>
            <a:endParaRPr lang="en-US" sz="15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Counts publications per author, then keeps authors with at least two.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8691" y="1889621"/>
            <a:ext cx="3454314" cy="2495649"/>
          </a:xfrm>
          <a:prstGeom prst="roundRect">
            <a:avLst>
              <a:gd name="adj" fmla="val 3182"/>
            </a:avLst>
          </a:prstGeom>
          <a:solidFill>
            <a:srgbClr val="342B26"/>
          </a:solidFill>
          <a:ln/>
        </p:spPr>
      </p:sp>
      <p:sp>
        <p:nvSpPr>
          <p:cNvPr id="10" name="Text 8"/>
          <p:cNvSpPr/>
          <p:nvPr/>
        </p:nvSpPr>
        <p:spPr>
          <a:xfrm>
            <a:off x="4595499" y="2078633"/>
            <a:ext cx="3000697" cy="2117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author_id FROM publication_authors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publication_id = 1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author_id FROM publication_authors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publication_id = 2;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68691" y="4597896"/>
            <a:ext cx="3454314" cy="1465461"/>
          </a:xfrm>
          <a:prstGeom prst="roundRect">
            <a:avLst>
              <a:gd name="adj" fmla="val 5419"/>
            </a:avLst>
          </a:prstGeom>
          <a:solidFill>
            <a:srgbClr val="183A13"/>
          </a:solidFill>
          <a:ln/>
        </p:spPr>
      </p:sp>
      <p:sp>
        <p:nvSpPr>
          <p:cNvPr id="12" name="Text 10"/>
          <p:cNvSpPr/>
          <p:nvPr/>
        </p:nvSpPr>
        <p:spPr>
          <a:xfrm>
            <a:off x="4557698" y="4834136"/>
            <a:ext cx="3076300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SET LOGIC</a:t>
            </a:r>
            <a:endParaRPr lang="en-US" sz="15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UNION combines IDs; also distinguish UNION ALL, INTERSECT, and EXCEPT.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797" y="1889621"/>
            <a:ext cx="3454314" cy="2798167"/>
          </a:xfrm>
          <a:prstGeom prst="roundRect">
            <a:avLst>
              <a:gd name="adj" fmla="val 2838"/>
            </a:avLst>
          </a:prstGeom>
          <a:solidFill>
            <a:srgbClr val="342B2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4605" y="2078633"/>
            <a:ext cx="3000697" cy="2420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author_id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authors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author_id IN (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author_id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publication_authors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author_id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HAVING COUNT(*) &gt; 2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7797" y="4900414"/>
            <a:ext cx="3454314" cy="1961952"/>
          </a:xfrm>
          <a:prstGeom prst="roundRect">
            <a:avLst>
              <a:gd name="adj" fmla="val 4048"/>
            </a:avLst>
          </a:prstGeom>
          <a:solidFill>
            <a:srgbClr val="553C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16804" y="5136654"/>
            <a:ext cx="3076300" cy="148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SUBQUERY</a:t>
            </a:r>
            <a:endParaRPr lang="en-US" sz="15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viva distinction: non-correlated subqueries are independent; correlated subqueries depend on the outer row.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ANALYTICS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Window functions rank authors without losing row detail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77045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54858"/>
            <a:ext cx="64006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RANKED-AUTHOR QUERY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2679898"/>
            <a:ext cx="6400640" cy="2267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a.name, COUNT(*) AS publication_count, RANK() OVER (ORDER BY COUNT(*) DESC) AS author_rank FROM authors a JOIN publication_authors pa ON a.author_id = pa.author_id GROUP BY a.author_id, a.name;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KEY DISTINCTION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— GROUP BY aggregates rows. A window function calculates across related rows without collapsing the result set.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4918" y="2354858"/>
            <a:ext cx="426719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WINDOW TOOLKIT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4918" y="2679898"/>
            <a:ext cx="4267192" cy="2274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DENSE_RANK()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AVG() OVER()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COUNT() OVER()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CTE: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author_counts AS (...)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author_counts;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Readable complex logic. Recursive CTEs can trace citation chains.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04792" y="514786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Document A</a:t>
            </a:r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Document B</a:t>
            </a:r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Document C</a:t>
            </a:r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Document D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OPTIMIZATION + DOCUMENT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Optimization is visible in the execution plan, while MongoDB stays flexible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77045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354858"/>
            <a:ext cx="5333867" cy="3893542"/>
          </a:xfrm>
          <a:prstGeom prst="rect">
            <a:avLst/>
          </a:prstGeom>
          <a:solidFill>
            <a:srgbClr val="342B26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456458"/>
            <a:ext cx="51306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0EAE2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POSTGRESQL OPTIMIZATION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780" y="2897386"/>
            <a:ext cx="4927477" cy="1813322"/>
          </a:xfrm>
          <a:prstGeom prst="roundRect">
            <a:avLst>
              <a:gd name="adj" fmla="val 5001"/>
            </a:avLst>
          </a:prstGeom>
          <a:solidFill>
            <a:srgbClr val="342B26"/>
          </a:solidFill>
          <a:ln/>
        </p:spPr>
      </p:sp>
      <p:sp>
        <p:nvSpPr>
          <p:cNvPr id="8" name="Text 6"/>
          <p:cNvSpPr/>
          <p:nvPr/>
        </p:nvSpPr>
        <p:spPr>
          <a:xfrm>
            <a:off x="1071833" y="3113286"/>
            <a:ext cx="4409369" cy="1381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ANALYZE SELECT * FROM publications WHERE doi = '...';</a:t>
            </a:r>
            <a:endParaRPr lang="en-US" sz="1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idx_publications_doi ON publications(doi);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780" y="4953595"/>
            <a:ext cx="4927477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Plan reveals: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planner choice, cost, sequential scan vs index scan, and execution time.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Indexing: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B-tree · Hash · GIN · GiST · BRIN · covering indexes · ANALYZE · Autovacuum · pg_stat_statements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48244" y="2354858"/>
            <a:ext cx="5333867" cy="3893542"/>
          </a:xfrm>
          <a:prstGeom prst="rect">
            <a:avLst/>
          </a:prstGeom>
          <a:solidFill>
            <a:srgbClr val="6B625C"/>
          </a:solidFill>
          <a:ln/>
        </p:spPr>
      </p:sp>
      <p:sp>
        <p:nvSpPr>
          <p:cNvPr id="11" name="Text 9"/>
          <p:cNvSpPr/>
          <p:nvPr/>
        </p:nvSpPr>
        <p:spPr>
          <a:xfrm>
            <a:off x="6451439" y="2456458"/>
            <a:ext cx="513067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MONGODB FLEXIBILITY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51439" y="2897386"/>
            <a:ext cx="4927477" cy="1122561"/>
          </a:xfrm>
          <a:prstGeom prst="roundRect">
            <a:avLst>
              <a:gd name="adj" fmla="val 8078"/>
            </a:avLst>
          </a:prstGeom>
          <a:solidFill>
            <a:srgbClr val="342B26"/>
          </a:solidFill>
          <a:ln/>
        </p:spPr>
      </p:sp>
      <p:sp>
        <p:nvSpPr>
          <p:cNvPr id="13" name="Text 11"/>
          <p:cNvSpPr/>
          <p:nvPr/>
        </p:nvSpPr>
        <p:spPr>
          <a:xfrm>
            <a:off x="6710492" y="3113286"/>
            <a:ext cx="4409369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{"title":"Publication title","authors":[{"name":"Author name"}],"topics":["topic"]}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51439" y="4262834"/>
            <a:ext cx="4927477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Concepts: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documents, embedded documents, arrays, references, CRUD, and indexes.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MongoDB complements PostgreSQL rather than replacing it.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RESEARCH ANALYTICS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73919"/>
            <a:ext cx="10972526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9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Aggregation turns publication metadata into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50293"/>
            <a:ext cx="201111" cy="31651"/>
          </a:xfrm>
          <a:prstGeom prst="roundRect">
            <a:avLst>
              <a:gd name="adj" fmla="val 49998"/>
            </a:avLst>
          </a:prstGeom>
          <a:solidFill>
            <a:srgbClr val="A97755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05186"/>
            <a:ext cx="533386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MONGODB PIPELINE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09585" y="2106513"/>
            <a:ext cx="5333867" cy="267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db.publications.aggregate([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{$match: {year: 2026}},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{$unwind: "$authors"},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{$group: {_id: "$authors.name", publications: {$sum: 1}}},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{$sort: {publications: -1}}</a:t>
            </a:r>
            <a:endParaRPr lang="en-US" sz="1600" dirty="0"/>
          </a:p>
          <a:p>
            <a:pPr algn="l" indent="0" marL="0">
              <a:lnSpc>
                <a:spcPct val="114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Other operators: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$project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reshapes fields; 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$lookup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joins collections; 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highlight>
                  <a:srgbClr val="342B2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$facet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supports multiple analytical views.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244" y="1805186"/>
            <a:ext cx="533386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8244" y="2106513"/>
            <a:ext cx="1676358" cy="1208187"/>
          </a:xfrm>
          <a:prstGeom prst="rect">
            <a:avLst/>
          </a:prstGeom>
          <a:solidFill>
            <a:srgbClr val="6B625C"/>
          </a:solidFill>
          <a:ln/>
        </p:spPr>
      </p:sp>
      <p:sp>
        <p:nvSpPr>
          <p:cNvPr id="9" name="Text 7"/>
          <p:cNvSpPr/>
          <p:nvPr/>
        </p:nvSpPr>
        <p:spPr>
          <a:xfrm>
            <a:off x="6349841" y="2208113"/>
            <a:ext cx="157476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AUTHORS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9841" y="2472432"/>
            <a:ext cx="1473163" cy="74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300" spc="-106" kern="100" dirty="0">
                <a:solidFill>
                  <a:srgbClr val="FFFFF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120</a:t>
            </a:r>
            <a:endParaRPr lang="en-US" sz="5300" dirty="0"/>
          </a:p>
        </p:txBody>
      </p:sp>
      <p:sp>
        <p:nvSpPr>
          <p:cNvPr id="11" name="Shape 9"/>
          <p:cNvSpPr/>
          <p:nvPr/>
        </p:nvSpPr>
        <p:spPr>
          <a:xfrm>
            <a:off x="8076998" y="2106513"/>
            <a:ext cx="1676358" cy="1208187"/>
          </a:xfrm>
          <a:prstGeom prst="rect">
            <a:avLst/>
          </a:prstGeom>
          <a:solidFill>
            <a:srgbClr val="6B625C"/>
          </a:solidFill>
          <a:ln/>
        </p:spPr>
      </p:sp>
      <p:sp>
        <p:nvSpPr>
          <p:cNvPr id="12" name="Text 10"/>
          <p:cNvSpPr/>
          <p:nvPr/>
        </p:nvSpPr>
        <p:spPr>
          <a:xfrm>
            <a:off x="8178595" y="2208113"/>
            <a:ext cx="157476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PAPERS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78595" y="2472432"/>
            <a:ext cx="1473163" cy="74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300" spc="-106" kern="100" dirty="0">
                <a:solidFill>
                  <a:srgbClr val="FFFFF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350</a:t>
            </a:r>
            <a:endParaRPr lang="en-US" sz="5300" dirty="0"/>
          </a:p>
        </p:txBody>
      </p:sp>
      <p:sp>
        <p:nvSpPr>
          <p:cNvPr id="14" name="Shape 12"/>
          <p:cNvSpPr/>
          <p:nvPr/>
        </p:nvSpPr>
        <p:spPr>
          <a:xfrm>
            <a:off x="9905752" y="2106513"/>
            <a:ext cx="1676358" cy="1208187"/>
          </a:xfrm>
          <a:prstGeom prst="rect">
            <a:avLst/>
          </a:prstGeom>
          <a:solidFill>
            <a:srgbClr val="2621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07350" y="2208113"/>
            <a:ext cx="157476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CITATIONS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07350" y="2472432"/>
            <a:ext cx="1473163" cy="74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300" spc="-106" kern="100" dirty="0">
                <a:solidFill>
                  <a:srgbClr val="FFFFF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1,250</a:t>
            </a:r>
            <a:endParaRPr lang="en-US" sz="5300" dirty="0"/>
          </a:p>
        </p:txBody>
      </p:sp>
      <p:sp>
        <p:nvSpPr>
          <p:cNvPr id="17" name="Text 15"/>
          <p:cNvSpPr/>
          <p:nvPr/>
        </p:nvSpPr>
        <p:spPr>
          <a:xfrm>
            <a:off x="6248244" y="3428504"/>
            <a:ext cx="1676358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PUBLICATIONS BY YEAR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48244" y="3917355"/>
            <a:ext cx="167635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Dashboard view · year-by-year comparison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8244" y="4739481"/>
            <a:ext cx="1257269" cy="38100"/>
          </a:xfrm>
          <a:prstGeom prst="roundRect">
            <a:avLst>
              <a:gd name="adj" fmla="val 49999"/>
            </a:avLst>
          </a:prstGeom>
          <a:solidFill>
            <a:srgbClr val="A977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8244" y="4993580"/>
            <a:ext cx="1123128" cy="38100"/>
          </a:xfrm>
          <a:prstGeom prst="roundRect">
            <a:avLst>
              <a:gd name="adj" fmla="val 49999"/>
            </a:avLst>
          </a:prstGeom>
          <a:solidFill>
            <a:srgbClr val="A97755"/>
          </a:solidFill>
          <a:ln/>
        </p:spPr>
      </p:sp>
      <p:sp>
        <p:nvSpPr>
          <p:cNvPr id="21" name="Text 19"/>
          <p:cNvSpPr/>
          <p:nvPr/>
        </p:nvSpPr>
        <p:spPr>
          <a:xfrm>
            <a:off x="8076998" y="3428504"/>
            <a:ext cx="167635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TOP AUTHORS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76998" y="3729831"/>
            <a:ext cx="167635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Ranked author list from aggregation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76998" y="4281785"/>
            <a:ext cx="1676358" cy="835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1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author ranking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2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author ranking</a:t>
            </a:r>
            <a:endParaRPr lang="en-US" sz="16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6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3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· author ranking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5752" y="3428504"/>
            <a:ext cx="167635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91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CITATION TRENDS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905752" y="3729831"/>
            <a:ext cx="167635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B8A79A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Trend view · citation activity over time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05752" y="4332883"/>
            <a:ext cx="1257269" cy="38100"/>
          </a:xfrm>
          <a:prstGeom prst="roundRect">
            <a:avLst>
              <a:gd name="adj" fmla="val 49999"/>
            </a:avLst>
          </a:prstGeom>
          <a:solidFill>
            <a:srgbClr val="A97755"/>
          </a:solidFill>
          <a:ln/>
        </p:spPr>
      </p:sp>
      <p:sp>
        <p:nvSpPr>
          <p:cNvPr id="27" name="Shape 25"/>
          <p:cNvSpPr/>
          <p:nvPr/>
        </p:nvSpPr>
        <p:spPr>
          <a:xfrm>
            <a:off x="9905752" y="4586982"/>
            <a:ext cx="1123128" cy="38100"/>
          </a:xfrm>
          <a:prstGeom prst="roundRect">
            <a:avLst>
              <a:gd name="adj" fmla="val 49999"/>
            </a:avLst>
          </a:prstGeom>
          <a:solidFill>
            <a:srgbClr val="A97755"/>
          </a:solidFill>
          <a:ln/>
        </p:spPr>
      </p:sp>
      <p:sp>
        <p:nvSpPr>
          <p:cNvPr id="28" name="Text 26"/>
          <p:cNvSpPr/>
          <p:nvPr/>
        </p:nvSpPr>
        <p:spPr>
          <a:xfrm>
            <a:off x="609585" y="5519539"/>
            <a:ext cx="7467413" cy="1114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b="1" dirty="0">
                <a:solidFill>
                  <a:srgbClr val="F0EAE2"/>
                </a:solidFill>
                <a:latin typeface="Albert Sans Bold" pitchFamily="34" charset="0"/>
                <a:ea typeface="Albert Sans Bold" pitchFamily="34" charset="-122"/>
                <a:cs typeface="Albert Sans Bold" pitchFamily="34" charset="-120"/>
              </a:rPr>
              <a:t>Viva checklist:</a:t>
            </a:r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 ER modelling; 1NF–BCNF and 4NF; DDL/DML; keys and constraints; joins; GROUP BY/HAVING; windows; CTEs; subqueries; set operations; indexes; EXPLAIN ANALYZE; MongoDB CRUD/aggregation; research analytics.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1691" y="5290939"/>
            <a:ext cx="3200419" cy="1571228"/>
          </a:xfrm>
          <a:prstGeom prst="rect">
            <a:avLst/>
          </a:prstGeom>
          <a:solidFill>
            <a:srgbClr val="A97755"/>
          </a:solidFill>
          <a:ln/>
        </p:spPr>
      </p:sp>
      <p:sp>
        <p:nvSpPr>
          <p:cNvPr id="30" name="Text 28"/>
          <p:cNvSpPr/>
          <p:nvPr/>
        </p:nvSpPr>
        <p:spPr>
          <a:xfrm>
            <a:off x="8534087" y="5723334"/>
            <a:ext cx="2895627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Thank You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534087" y="6151265"/>
            <a:ext cx="3048023" cy="27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82" kern="100" dirty="0">
                <a:solidFill>
                  <a:srgbClr val="C28D68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RESEARCHHUB · PROJECT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1772"/>
            <a:ext cx="10972526" cy="48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43" kern="100" dirty="0">
                <a:solidFill>
                  <a:srgbClr val="F4EFE8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One system, two data models, many useful answers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483122"/>
            <a:ext cx="11582110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The project connects sound database design with practical research analytics.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3860703" cy="3276600"/>
          </a:xfrm>
          <a:prstGeom prst="rect">
            <a:avLst/>
          </a:prstGeom>
          <a:solidFill>
            <a:srgbClr val="553C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191000"/>
            <a:ext cx="264153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Architecture &amp; modelling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4565551"/>
            <a:ext cx="2641534" cy="227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PostgreSQL for structured relational data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MongoDB for flexible metadata and analytics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ER modelling for authors, documents, and relationships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Normalization through BCNF/4NF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165496" y="3581400"/>
            <a:ext cx="3860703" cy="3276600"/>
          </a:xfrm>
          <a:prstGeom prst="rect">
            <a:avLst/>
          </a:prstGeom>
          <a:solidFill>
            <a:srgbClr val="553C2B"/>
          </a:solidFill>
          <a:ln/>
        </p:spPr>
      </p:sp>
      <p:sp>
        <p:nvSpPr>
          <p:cNvPr id="9" name="Text 7"/>
          <p:cNvSpPr/>
          <p:nvPr/>
        </p:nvSpPr>
        <p:spPr>
          <a:xfrm>
            <a:off x="4775081" y="4191000"/>
            <a:ext cx="2641534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Integrity &amp; SQL foundations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75081" y="4826298"/>
            <a:ext cx="2641534" cy="227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DDL/DML, keys, and constraints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Joins, subqueries, and set operations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GROUP BY/HAVING for grouped questions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CTEs and window functions for layered analysis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30992" y="3581400"/>
            <a:ext cx="3860703" cy="3276600"/>
          </a:xfrm>
          <a:prstGeom prst="rect">
            <a:avLst/>
          </a:prstGeom>
          <a:solidFill>
            <a:srgbClr val="553C2B"/>
          </a:solidFill>
          <a:ln/>
        </p:spPr>
      </p:sp>
      <p:sp>
        <p:nvSpPr>
          <p:cNvPr id="12" name="Text 10"/>
          <p:cNvSpPr/>
          <p:nvPr/>
        </p:nvSpPr>
        <p:spPr>
          <a:xfrm>
            <a:off x="8940576" y="4191000"/>
            <a:ext cx="264153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EFE8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-120"/>
              </a:rPr>
              <a:t>Performance &amp; analytics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40576" y="4565551"/>
            <a:ext cx="2641534" cy="151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Indexing and EXPLAIN ANALYZE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MongoDB CRUD and aggregation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F0EAE2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Research analytics that turn metadata into decisions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5A4638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62990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RESEARCHHUB · DATABASE MANAGEMENT SYSTEMS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2205434"/>
            <a:ext cx="5689458" cy="1173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400" spc="-168" kern="100" dirty="0">
                <a:solidFill>
                  <a:srgbClr val="FFFFF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09585" y="3572570"/>
            <a:ext cx="568945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FFFFF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4246166"/>
            <a:ext cx="568945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Let’s discuss the architecture, queries, and research insights.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2026-10-02T17:19:16Z</dcterms:created>
  <dcterms:modified xsi:type="dcterms:W3CDTF">2026-10-02T17:19:16Z</dcterms:modified>
</cp:coreProperties>
</file>