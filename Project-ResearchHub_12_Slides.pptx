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5" r:id="rId14"/>
    <p:sldId id="266" r:id="rId15"/>
    <p:sldId id="267" r:id="rId16"/>
    <p:sldId id="268" r:id="rId1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452F-A5A3-A1D6-8E37-8440FF716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07303-D6A8-26DE-7769-CB1543872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2FAAF-1E17-E72D-B7CF-65AD6A96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E1B2-BFCA-F622-BCFD-D97A1C853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DA869-FC1B-EAE1-E1A7-41BF4123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492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6778D-13E0-4621-732E-0D2CA02D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1345-36AD-E650-8B17-2E4332729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1F6B1-957F-4DCB-3801-A5F991FED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5DF56-CC89-1284-85EE-EA583A51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7F18D-6D48-9A83-744E-F382C467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80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7076-F2BB-5A03-D240-77A39CEA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9F783-7279-B7F7-BAF0-7F5A6272D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FA05D-DDA8-9EF8-AEC1-FD0E11C0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E2E8B-C54D-65DB-C3A9-E10C7CB51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F302E-AB27-3D80-DA6A-FC1E5DE69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238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1651-DA24-AEA1-E866-63D05006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84D2C-1CDE-61DB-4864-EB96DCA44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84A19-A613-E238-DE9C-9170721FB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93CC7-6741-4F4D-2507-B5303D304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ECCAF-F4EB-586E-8A39-826B5BD73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020C1-B615-51FD-6F4D-CDC233BC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28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5DCD1-34BB-8D40-523F-DB93018D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57CBB-AA0F-D856-D4E0-9BA87C05D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3C0FE-A42C-F1B2-EC15-1A108CA5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1B9ADD-4994-1386-7A70-197456D05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EED6B1-5B85-CC47-AA17-B304A1445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3A1863-18E0-FAD1-0094-CF347100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E01104-EAF7-BB9A-D575-598029316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8E9AB-618E-0D10-E2E2-DA487A33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30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D922-124F-8BCD-CD9E-2CB375AC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40F84-E334-C801-31D6-119ADF7F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765CD-6E71-EBDC-8A92-A9795C64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C2212-C6E0-2012-2D59-554F0FD0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259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EB071-E433-74D8-FA8B-D43CAC4DD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1068C1-3D62-DB50-A528-FC10C3549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AF087-8671-4B6E-BB05-6E40D3C6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152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9B20-430D-FBFE-BEF8-47090494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34D68-135A-30AE-5073-A9BD0F8B5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54F1B-DBAB-943F-3D1D-1096B9DDF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7E242-07CC-8B93-2A64-87F56F1E1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241EC-1573-B156-A1FA-2132F0A4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0E511-D86E-8553-60A4-067310174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062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DE90-9C9E-CDF7-8252-0897A589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35102-E2EF-D6DD-C709-EF0F126344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E6C92-02BC-CB54-AC98-5EC6F7A8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9D4BB-48DF-4705-2EE3-3336FC7B1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0A7BE-DEAD-C626-52A0-954C2540A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FDBE1-8B62-4E4F-3F49-4718C9F1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57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E926-C879-C942-B7E9-5755BAA0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502D2-EDC1-D203-8879-FC98F5F71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95CD7-54A0-852E-B3FA-226F5E506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D088E-39D8-2C09-5674-B82F0361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102ED-AA70-51DB-235E-1D4B0A62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9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0885D-F4DE-7F15-B645-CCD581E455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41F32-B9E5-DEF4-385A-592C9AF03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8294C-5F44-05CE-29D4-BE82518D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F5C33-32EC-D8F1-B831-821E5923D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9739F-9F03-7B0C-4695-D53557D1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5854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DDBB75-C431-3AA6-94E7-0A3C7DC38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4B83C-4EF7-E2F6-2040-5B7A528C4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DCDFC-1F06-D062-0895-5642CD825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23C1-71B0-4773-8C7D-29A75AF6DA37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D687F-E419-83B6-BF45-ACED68DE4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6ADF9-BBE1-D8AF-52BF-C25569833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D8E9E-2762-4887-B7DE-208423599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55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F704-9E2D-0012-7E61-BDC3D404D2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Project-</a:t>
            </a:r>
            <a:r>
              <a:rPr lang="en-US" dirty="0" err="1"/>
              <a:t>ResearchHub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A9560-51EC-3FF4-737B-097333F51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31806"/>
            <a:ext cx="9144000" cy="725993"/>
          </a:xfrm>
        </p:spPr>
        <p:txBody>
          <a:bodyPr/>
          <a:lstStyle/>
          <a:p>
            <a:pPr algn="r"/>
            <a:r>
              <a:rPr lang="en-US" dirty="0"/>
              <a:t>By- Team 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13519D-C928-CCBA-8A74-AED27DF6E7E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0298" y="284234"/>
            <a:ext cx="8655554" cy="1676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5739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BAF7-0B46-D566-5896-2FF943F1E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1534"/>
          </a:xfrm>
        </p:spPr>
        <p:txBody>
          <a:bodyPr>
            <a:normAutofit/>
          </a:bodyPr>
          <a:lstStyle/>
          <a:p>
            <a:r>
              <a:rPr lang="en-IN" sz="4800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C62BE-6BB6-6A78-1D87-79B0A6BDD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56701"/>
            <a:ext cx="9144000" cy="3516198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IN" sz="3200" b="1" dirty="0"/>
              <a:t>What is </a:t>
            </a:r>
            <a:r>
              <a:rPr lang="en-IN" sz="3200" b="1" dirty="0" err="1"/>
              <a:t>ResearchHub</a:t>
            </a:r>
            <a:r>
              <a:rPr lang="en-IN" sz="3200" b="1" dirty="0"/>
              <a:t>?</a:t>
            </a:r>
          </a:p>
          <a:p>
            <a:pPr algn="l"/>
            <a:r>
              <a:rPr lang="en-IN" sz="3200" dirty="0" err="1"/>
              <a:t>ResearchHub</a:t>
            </a:r>
            <a:r>
              <a:rPr lang="en-IN" sz="3200" dirty="0"/>
              <a:t> is a research information and analytics platform designed to manage and </a:t>
            </a:r>
            <a:r>
              <a:rPr lang="en-IN" sz="3200" dirty="0" err="1"/>
              <a:t>analyze</a:t>
            </a:r>
            <a:r>
              <a:rPr lang="en-IN" sz="3200" dirty="0"/>
              <a:t> research-related information.</a:t>
            </a:r>
          </a:p>
          <a:p>
            <a:pPr algn="l"/>
            <a:r>
              <a:rPr lang="en-IN" sz="3200" dirty="0"/>
              <a:t>It helps to manage: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dirty="0"/>
              <a:t>Research publications 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dirty="0"/>
              <a:t>Authors and researchers 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dirty="0"/>
              <a:t>Research areas 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dirty="0"/>
              <a:t>Research documents 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dirty="0"/>
              <a:t>Citations </a:t>
            </a:r>
          </a:p>
          <a:p>
            <a:pPr marL="457200" lvl="0" indent="-457200" algn="l">
              <a:buFont typeface="Arial" panose="020B0604020202020204" pitchFamily="34" charset="0"/>
              <a:buChar char="•"/>
            </a:pPr>
            <a:r>
              <a:rPr lang="en-IN" sz="3200" dirty="0"/>
              <a:t>Research performance</a:t>
            </a:r>
          </a:p>
          <a:p>
            <a:pPr algn="l"/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170F576-8810-3304-492F-42FD5AC6D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85306" cy="158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17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DA794-7894-3898-7AF0-7A5C5B97C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4642"/>
            <a:ext cx="10515600" cy="1024932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r>
              <a:rPr lang="en-IN" sz="5300" dirty="0"/>
              <a:t>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4A52B-D026-E416-DAA4-7969342BD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733"/>
            <a:ext cx="10515600" cy="39462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 Objectives of </a:t>
            </a:r>
            <a:r>
              <a:rPr lang="en-IN" b="1" dirty="0" err="1"/>
              <a:t>ResearchHub</a:t>
            </a:r>
            <a:endParaRPr lang="en-IN" b="1" dirty="0"/>
          </a:p>
          <a:p>
            <a:pPr lvl="0"/>
            <a:r>
              <a:rPr lang="en-IN" dirty="0"/>
              <a:t>Manage author and researcher information. </a:t>
            </a:r>
          </a:p>
          <a:p>
            <a:pPr lvl="0"/>
            <a:r>
              <a:rPr lang="en-IN" dirty="0"/>
              <a:t>Store publication details systematically. </a:t>
            </a:r>
          </a:p>
          <a:p>
            <a:pPr lvl="0"/>
            <a:r>
              <a:rPr lang="en-IN" dirty="0"/>
              <a:t>Organize publications by research areas. </a:t>
            </a:r>
          </a:p>
          <a:p>
            <a:pPr lvl="0"/>
            <a:r>
              <a:rPr lang="en-IN" dirty="0"/>
              <a:t>Maintain citation information.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author productivity. </a:t>
            </a:r>
          </a:p>
          <a:p>
            <a:pPr lvl="0"/>
            <a:r>
              <a:rPr lang="en-IN" dirty="0" err="1"/>
              <a:t>Analyze</a:t>
            </a:r>
            <a:r>
              <a:rPr lang="en-IN" dirty="0"/>
              <a:t> publication and citation trends. </a:t>
            </a:r>
          </a:p>
          <a:p>
            <a:pPr lvl="0"/>
            <a:r>
              <a:rPr lang="en-IN" dirty="0"/>
              <a:t>Generate research-performance insights.</a:t>
            </a:r>
          </a:p>
          <a:p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F0A8CA4-E1EB-4077-8D0D-9BF9FC771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85306" cy="158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108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E159-2288-C288-D790-90A2C710F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653" y="1450347"/>
            <a:ext cx="10515600" cy="941161"/>
          </a:xfrm>
        </p:spPr>
        <p:txBody>
          <a:bodyPr/>
          <a:lstStyle/>
          <a:p>
            <a:pPr algn="ctr"/>
            <a:r>
              <a:rPr lang="en-US" dirty="0"/>
              <a:t>Use Cases</a:t>
            </a: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36B5BA9-D7D0-8EA7-83BF-DA7368433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85306" cy="158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EDC6B3-1658-0A29-8D03-807567DB3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4091"/>
            <a:ext cx="10515600" cy="3612872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IN" b="1" dirty="0"/>
              <a:t>Manage Authors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Add and view researcher details. </a:t>
            </a:r>
          </a:p>
          <a:p>
            <a:pPr lvl="0"/>
            <a:r>
              <a:rPr lang="en-IN" b="1" dirty="0"/>
              <a:t>Manage Publications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Add and view research papers. </a:t>
            </a:r>
          </a:p>
          <a:p>
            <a:pPr lvl="0"/>
            <a:r>
              <a:rPr lang="en-IN" b="1" dirty="0"/>
              <a:t>Manage Research Areas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Organize papers by research field like AI, ML, Data Science, etc. </a:t>
            </a:r>
          </a:p>
          <a:p>
            <a:pPr lvl="0"/>
            <a:r>
              <a:rPr lang="en-IN" b="1" dirty="0"/>
              <a:t>Manage Authors &amp; Papers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Connect authors with their research papers. </a:t>
            </a:r>
          </a:p>
          <a:p>
            <a:pPr lvl="0"/>
            <a:r>
              <a:rPr lang="en-IN" b="1" dirty="0"/>
              <a:t>Track Citations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Record which paper cites another paper. </a:t>
            </a:r>
          </a:p>
          <a:p>
            <a:pPr lvl="0"/>
            <a:r>
              <a:rPr lang="en-IN" b="1" dirty="0" err="1"/>
              <a:t>Analyze</a:t>
            </a:r>
            <a:r>
              <a:rPr lang="en-IN" b="1" dirty="0"/>
              <a:t> Publications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Find publication counts, trends, and highly cited papers. </a:t>
            </a:r>
          </a:p>
          <a:p>
            <a:pPr lvl="0"/>
            <a:r>
              <a:rPr lang="en-IN" b="1" dirty="0" err="1"/>
              <a:t>Analyze</a:t>
            </a:r>
            <a:r>
              <a:rPr lang="en-IN" b="1" dirty="0"/>
              <a:t> Authors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Find which authors have published the most papers.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0057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C528F-DB71-0632-E194-3C78D5EA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5996"/>
            <a:ext cx="10515600" cy="1020348"/>
          </a:xfrm>
        </p:spPr>
        <p:txBody>
          <a:bodyPr/>
          <a:lstStyle/>
          <a:p>
            <a:pPr algn="ctr"/>
            <a:r>
              <a:rPr lang="en-IN" dirty="0"/>
              <a:t>Technologies To Be Used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4837BB7-B85A-4CAA-7547-68A4307CFD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889360"/>
              </p:ext>
            </p:extLst>
          </p:nvPr>
        </p:nvGraphicFramePr>
        <p:xfrm>
          <a:off x="838200" y="3089623"/>
          <a:ext cx="10515600" cy="24068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651474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48194455"/>
                    </a:ext>
                  </a:extLst>
                </a:gridCol>
              </a:tblGrid>
              <a:tr h="48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785793"/>
                  </a:ext>
                </a:extLst>
              </a:tr>
              <a:tr h="48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research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125271"/>
                  </a:ext>
                </a:extLst>
              </a:tr>
              <a:tr h="48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documents and citation-related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5274445"/>
                  </a:ext>
                </a:extLst>
              </a:tr>
              <a:tr h="48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processing and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621148"/>
                  </a:ext>
                </a:extLst>
              </a:tr>
              <a:tr h="481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Visualization and research insights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720761"/>
                  </a:ext>
                </a:extLst>
              </a:tr>
            </a:tbl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id="{56DF95C1-62AB-7673-85F6-4C6844866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85306" cy="158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46A8E7-B1DE-D4EB-F3A0-8B10F9C53BD7}"/>
              </a:ext>
            </a:extLst>
          </p:cNvPr>
          <p:cNvSpPr txBox="1"/>
          <p:nvPr/>
        </p:nvSpPr>
        <p:spPr>
          <a:xfrm>
            <a:off x="792653" y="246197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Teachnology</a:t>
            </a:r>
            <a:r>
              <a:rPr lang="en-US" dirty="0"/>
              <a:t> Stack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205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8614-A07B-6EAB-8569-8E37C915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313"/>
            <a:ext cx="10515600" cy="864469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C8772-44DA-BA8D-0BC2-AF2C3A4B3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2426"/>
            <a:ext cx="10515600" cy="359453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Main PostgreSQL Tables</a:t>
            </a:r>
          </a:p>
          <a:p>
            <a:pPr marL="0" indent="0">
              <a:buNone/>
            </a:pPr>
            <a:r>
              <a:rPr lang="en-IN" dirty="0"/>
              <a:t>Our Stage 1 database contains:</a:t>
            </a:r>
          </a:p>
          <a:p>
            <a:pPr lvl="0"/>
            <a:r>
              <a:rPr lang="en-IN" b="1" dirty="0"/>
              <a:t>Authors</a:t>
            </a:r>
            <a:r>
              <a:rPr lang="en-IN" dirty="0"/>
              <a:t> – stores researcher information </a:t>
            </a:r>
          </a:p>
          <a:p>
            <a:pPr lvl="0"/>
            <a:r>
              <a:rPr lang="en-IN" b="1" dirty="0"/>
              <a:t>Publications</a:t>
            </a:r>
            <a:r>
              <a:rPr lang="en-IN" dirty="0"/>
              <a:t> – stores publication details </a:t>
            </a:r>
          </a:p>
          <a:p>
            <a:pPr lvl="0"/>
            <a:r>
              <a:rPr lang="en-IN" b="1" dirty="0"/>
              <a:t>Research Areas</a:t>
            </a:r>
            <a:r>
              <a:rPr lang="en-IN" dirty="0"/>
              <a:t> – stores research fields </a:t>
            </a:r>
          </a:p>
          <a:p>
            <a:pPr lvl="0"/>
            <a:r>
              <a:rPr lang="en-IN" b="1" dirty="0"/>
              <a:t>Publication Authors</a:t>
            </a:r>
            <a:r>
              <a:rPr lang="en-IN" dirty="0"/>
              <a:t> – connects authors with publications </a:t>
            </a:r>
          </a:p>
          <a:p>
            <a:pPr lvl="0"/>
            <a:r>
              <a:rPr lang="en-IN" b="1" dirty="0"/>
              <a:t>Publication Research Areas</a:t>
            </a:r>
            <a:r>
              <a:rPr lang="en-IN" dirty="0"/>
              <a:t> – connects publications with research areas </a:t>
            </a:r>
          </a:p>
          <a:p>
            <a:pPr lvl="0"/>
            <a:r>
              <a:rPr lang="en-IN" b="1" dirty="0"/>
              <a:t>Citations</a:t>
            </a:r>
            <a:r>
              <a:rPr lang="en-IN" dirty="0"/>
              <a:t> – stores citation relationships </a:t>
            </a:r>
          </a:p>
          <a:p>
            <a:r>
              <a:rPr lang="en-IN" dirty="0"/>
              <a:t>The project uses Primary Keys, Foreign Keys, Unique Constraints, Check Constraints, and Many-to-Many relationships.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B920BF0-4049-05B6-6607-F982574E5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85306" cy="158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399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ECED-5811-4D30-6F50-7680016DF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6915"/>
            <a:ext cx="10515600" cy="1065126"/>
          </a:xfrm>
        </p:spPr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86D2B-E08C-641D-385D-A7187938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63297"/>
            <a:ext cx="10515600" cy="3413666"/>
          </a:xfrm>
        </p:spPr>
        <p:txBody>
          <a:bodyPr/>
          <a:lstStyle/>
          <a:p>
            <a:r>
              <a:rPr lang="en-IN" dirty="0" err="1"/>
              <a:t>ResearchHub</a:t>
            </a:r>
            <a:r>
              <a:rPr lang="en-IN" dirty="0"/>
              <a:t> is a database-driven research management and analytics platform.</a:t>
            </a:r>
          </a:p>
          <a:p>
            <a:r>
              <a:rPr lang="en-IN" dirty="0"/>
              <a:t>It combines PostgreSQL, MongoDB, and Python to manage research information and generate meaningful research insights.</a:t>
            </a:r>
          </a:p>
          <a:p>
            <a:r>
              <a:rPr lang="en-IN" dirty="0"/>
              <a:t>The system can help researchers and institutions organize publications, track citations, </a:t>
            </a:r>
            <a:r>
              <a:rPr lang="en-IN" dirty="0" err="1"/>
              <a:t>analyze</a:t>
            </a:r>
            <a:r>
              <a:rPr lang="en-IN" dirty="0"/>
              <a:t> productivity, and understand research trends.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21F00F1-FA72-297B-38D6-FE46075B4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85306" cy="158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78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CAC0-F06E-3719-5DC6-A2591113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55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AFBBD08-352A-53E1-3D57-5E90C0A4F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85306" cy="158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97280" y="498348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Presented by: Team 6 – 4 Members</a:t>
            </a:r>
          </a:p>
        </p:txBody>
      </p:sp>
    </p:spTree>
    <p:extLst>
      <p:ext uri="{BB962C8B-B14F-4D97-AF65-F5344CB8AC3E}">
        <p14:creationId xmlns:p14="http://schemas.microsoft.com/office/powerpoint/2010/main" val="556235487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SQL Queries – Authors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SELECT * FROM Authors;</a:t>
            </a:r>
          </a:p>
          <a:p>
            <a:pPr>
              <a:defRPr sz="2200"/>
            </a:pPr>
            <a:r>
              <a:t>SELECT author_id, author_name FROM Authors;</a:t>
            </a:r>
          </a:p>
          <a:p>
            <a:pPr>
              <a:defRPr sz="2200"/>
            </a:pPr>
            <a:r>
              <a:t>SELECT COUNT(*) AS total_authors FROM Authors;</a:t>
            </a:r>
          </a:p>
          <a:p>
            <a:pPr>
              <a:defRPr sz="2200"/>
            </a:pPr>
            <a:r>
              <a:t>Purpose: view and analyze researcher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SQL Queries – Publications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SELECT * FROM Publications;</a:t>
            </a:r>
          </a:p>
          <a:p>
            <a:pPr>
              <a:defRPr sz="2200"/>
            </a:pPr>
            <a:r>
              <a:t>SELECT COUNT(*) AS total_publications FROM Publications;</a:t>
            </a:r>
          </a:p>
          <a:p>
            <a:pPr>
              <a:defRPr sz="2200"/>
            </a:pPr>
            <a:r>
              <a:t>SELECT publication_id, title FROM Publications;</a:t>
            </a:r>
          </a:p>
          <a:p>
            <a:pPr>
              <a:defRPr sz="2200"/>
            </a:pPr>
            <a:r>
              <a:t>Purpose: retrieve publication details and publication 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Keys, Constraints &amp;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Primary Key – uniquely identifies each record.</a:t>
            </a:r>
          </a:p>
          <a:p>
            <a:pPr>
              <a:defRPr sz="2200"/>
            </a:pPr>
            <a:r>
              <a:t>Foreign Key – connects related tables.</a:t>
            </a:r>
          </a:p>
          <a:p>
            <a:pPr>
              <a:defRPr sz="2200"/>
            </a:pPr>
            <a:r>
              <a:t>Unique Constraint – prevents duplicate values.</a:t>
            </a:r>
          </a:p>
          <a:p>
            <a:pPr>
              <a:defRPr sz="2200"/>
            </a:pPr>
            <a:r>
              <a:t>Check Constraint – validates allowed values.</a:t>
            </a:r>
          </a:p>
          <a:p>
            <a:pPr>
              <a:defRPr sz="2200"/>
            </a:pPr>
            <a:r>
              <a:t>Authors and Publications have a many-to-many relationship.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Analysis Queries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GROUP BY can calculate publications by research area.</a:t>
            </a:r>
          </a:p>
          <a:p>
            <a:pPr>
              <a:defRPr sz="2200"/>
            </a:pPr>
            <a:r>
              <a:t>GROUP BY can calculate papers published by each author.</a:t>
            </a:r>
          </a:p>
          <a:p>
            <a:pPr>
              <a:defRPr sz="2200"/>
            </a:pPr>
            <a:r>
              <a:t>JOIN queries combine author, publication and research-area data.</a:t>
            </a:r>
          </a:p>
          <a:p>
            <a:pPr>
              <a:defRPr sz="2200"/>
            </a:pPr>
            <a:r>
              <a:t>Outputs support publication trends and research-performance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319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Project-ResearchHub</vt:lpstr>
      <vt:lpstr>Introduction</vt:lpstr>
      <vt:lpstr> Objectives </vt:lpstr>
      <vt:lpstr>Use Cases</vt:lpstr>
      <vt:lpstr>Technologies To Be Used</vt:lpstr>
      <vt:lpstr>Database Design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Anitha Penumala</dc:creator>
  <cp:lastModifiedBy>Anitha Penumala</cp:lastModifiedBy>
  <cp:revision>1</cp:revision>
  <dcterms:created xsi:type="dcterms:W3CDTF">2026-09-07T07:53:16Z</dcterms:created>
  <dcterms:modified xsi:type="dcterms:W3CDTF">2026-09-07T08:18:28Z</dcterms:modified>
</cp:coreProperties>
</file>